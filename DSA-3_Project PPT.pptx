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9" r:id="rId9"/>
    <p:sldId id="267" r:id="rId10"/>
    <p:sldId id="270" r:id="rId11"/>
    <p:sldId id="266" r:id="rId12"/>
    <p:sldId id="260" r:id="rId13"/>
    <p:sldId id="262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A06975-AEDF-40F7-BFB8-666A10AE1C46}" v="1" dt="2026-09-28T07:09:08.5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1" d="100"/>
          <a:sy n="51" d="100"/>
        </p:scale>
        <p:origin x="1256" y="4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shitha Uppalapati" userId="3be0d4f9365dd0af" providerId="LiveId" clId="{AB149606-2BA2-462E-BC59-3F219E4A6B46}"/>
    <pc:docChg chg="addSld modSld">
      <pc:chgData name="Varshitha Uppalapati" userId="3be0d4f9365dd0af" providerId="LiveId" clId="{AB149606-2BA2-462E-BC59-3F219E4A6B46}" dt="2026-09-28T07:10:31.268" v="71" actId="20577"/>
      <pc:docMkLst>
        <pc:docMk/>
      </pc:docMkLst>
      <pc:sldChg chg="modSp mod">
        <pc:chgData name="Varshitha Uppalapati" userId="3be0d4f9365dd0af" providerId="LiveId" clId="{AB149606-2BA2-462E-BC59-3F219E4A6B46}" dt="2026-09-28T07:09:24.008" v="63" actId="255"/>
        <pc:sldMkLst>
          <pc:docMk/>
          <pc:sldMk cId="1672422596" sldId="264"/>
        </pc:sldMkLst>
        <pc:spChg chg="mod">
          <ac:chgData name="Varshitha Uppalapati" userId="3be0d4f9365dd0af" providerId="LiveId" clId="{AB149606-2BA2-462E-BC59-3F219E4A6B46}" dt="2026-09-28T07:09:24.008" v="63" actId="255"/>
          <ac:spMkLst>
            <pc:docMk/>
            <pc:sldMk cId="1672422596" sldId="264"/>
            <ac:spMk id="4" creationId="{A1D231B5-85C6-E66B-86A3-D3C27157C133}"/>
          </ac:spMkLst>
        </pc:spChg>
      </pc:sldChg>
      <pc:sldChg chg="addSp modSp new mod">
        <pc:chgData name="Varshitha Uppalapati" userId="3be0d4f9365dd0af" providerId="LiveId" clId="{AB149606-2BA2-462E-BC59-3F219E4A6B46}" dt="2026-09-28T07:05:37.350" v="59" actId="14100"/>
        <pc:sldMkLst>
          <pc:docMk/>
          <pc:sldMk cId="151726912" sldId="269"/>
        </pc:sldMkLst>
        <pc:spChg chg="mod">
          <ac:chgData name="Varshitha Uppalapati" userId="3be0d4f9365dd0af" providerId="LiveId" clId="{AB149606-2BA2-462E-BC59-3F219E4A6B46}" dt="2026-09-28T07:03:38.800" v="46" actId="14100"/>
          <ac:spMkLst>
            <pc:docMk/>
            <pc:sldMk cId="151726912" sldId="269"/>
            <ac:spMk id="2" creationId="{A18D0DC0-0C90-6727-C0C6-8725E6BEEA77}"/>
          </ac:spMkLst>
        </pc:spChg>
        <pc:picChg chg="add mod">
          <ac:chgData name="Varshitha Uppalapati" userId="3be0d4f9365dd0af" providerId="LiveId" clId="{AB149606-2BA2-462E-BC59-3F219E4A6B46}" dt="2026-09-28T07:05:33.380" v="58" actId="14100"/>
          <ac:picMkLst>
            <pc:docMk/>
            <pc:sldMk cId="151726912" sldId="269"/>
            <ac:picMk id="4" creationId="{274527EA-AC5F-4B28-8E21-A895308A800B}"/>
          </ac:picMkLst>
        </pc:picChg>
        <pc:picChg chg="add mod">
          <ac:chgData name="Varshitha Uppalapati" userId="3be0d4f9365dd0af" providerId="LiveId" clId="{AB149606-2BA2-462E-BC59-3F219E4A6B46}" dt="2026-09-28T07:05:37.350" v="59" actId="14100"/>
          <ac:picMkLst>
            <pc:docMk/>
            <pc:sldMk cId="151726912" sldId="269"/>
            <ac:picMk id="6" creationId="{E38D0DC8-E396-A4F0-F897-574E10176206}"/>
          </ac:picMkLst>
        </pc:picChg>
      </pc:sldChg>
      <pc:sldChg chg="addSp modSp new mod">
        <pc:chgData name="Varshitha Uppalapati" userId="3be0d4f9365dd0af" providerId="LiveId" clId="{AB149606-2BA2-462E-BC59-3F219E4A6B46}" dt="2026-09-28T07:10:31.268" v="71" actId="20577"/>
        <pc:sldMkLst>
          <pc:docMk/>
          <pc:sldMk cId="823459215" sldId="270"/>
        </pc:sldMkLst>
        <pc:spChg chg="mod">
          <ac:chgData name="Varshitha Uppalapati" userId="3be0d4f9365dd0af" providerId="LiveId" clId="{AB149606-2BA2-462E-BC59-3F219E4A6B46}" dt="2026-09-28T07:10:31.268" v="71" actId="20577"/>
          <ac:spMkLst>
            <pc:docMk/>
            <pc:sldMk cId="823459215" sldId="270"/>
            <ac:spMk id="2" creationId="{618CC25C-56B4-D2DF-B3C2-0606F673C500}"/>
          </ac:spMkLst>
        </pc:spChg>
        <pc:picChg chg="add mod">
          <ac:chgData name="Varshitha Uppalapati" userId="3be0d4f9365dd0af" providerId="LiveId" clId="{AB149606-2BA2-462E-BC59-3F219E4A6B46}" dt="2026-09-28T06:59:29.098" v="40" actId="14100"/>
          <ac:picMkLst>
            <pc:docMk/>
            <pc:sldMk cId="823459215" sldId="270"/>
            <ac:picMk id="4" creationId="{EAB4647F-EE68-A6DD-9C7F-0492FDF1F271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15:47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90 24575,'-5'0'0,"-16"0"0,21 0 0,-1 0 0,1 0 0,0 0 0,-1 0 0,1 0 0,-1 1 0,1-1 0,0 0 0,-1-1 0,1 1 0,0 0 0,-1 0 0,1 0 0,-1 0 0,1 0 0,0 0 0,-1 0 0,1 0 0,0-1 0,0 1 0,-1 0 0,1 0 0,0 0 0,-1-1 0,1 1 0,0 0 0,0-1 0,-1 1 0,1 0 0,0 0 0,0-1 0,-1 0 0,2-1 0,0 0 0,0-1 0,0 1 0,0 0 0,-1-1 0,1 1 0,-1-1 0,0 0 0,1 1 0,-1-1 0,-1 1 0,1-1 0,0 1 0,0-1 0,-1 1 0,0-1 0,1 1 0,-1 0 0,0-1 0,0 1 0,0 0 0,-1-1 0,1 1 0,0 0 0,-1 0 0,0 0 0,1 0 0,-1 0 0,0 1 0,0-1 0,0 0 0,0 1 0,0 0 0,0-1 0,-1 1 0,1 0 0,0 0 0,-1 0 0,1 0 0,0 1 0,-1-1 0,1 1 0,-1-1 0,1 1 0,-1 0 0,0 0 0,1 0 0,-1 0 0,1 1 0,-4 0 0,5-1 0,0 0 0,1 0 0,-1 0 0,0 0 0,1 0 0,-1 1 0,0-1 0,1 0 0,-1 0 0,1 1 0,-1-1 0,0 0 0,1 1 0,-1-1 0,1 1 0,-1-1 0,1 1 0,-1-1 0,1 1 0,0-1 0,-1 1 0,1-1 0,0 1 0,-1 0 0,1-1 0,0 1 0,-1 0 0,1-1 0,0 1 0,0 0 0,0-1 0,0 1 0,0 0 0,0-1 0,0 1 0,0 0 0,0-1 0,0 1 0,0 0 0,0-1 0,0 1 0,1 0 0,-1-1 0,0 1 0,0 0 0,1-1 0,-1 1 0,0-1 0,1 1 0,-1-1 0,1 1 0,0 0 0,1 2 0,0 0 0,1 0 0,-1 0 0,1-1 0,-1 1 0,1-1 0,0 0 0,6 4 0,33 4 0,-22-13 0,-19 3 0,-1-1 0,0 1 0,0 0 0,1-1 0,-1 1 0,0-1 0,1 1 0,-1-1 0,0 1 0,0-1 0,0 1 0,0-1 0,1 1 0,-1-1 0,0 1 0,0-1 0,0 1 0,0-1 0,0 1 0,0-1 0,0 1 0,0-1 0,-1 1 0,1-1 0,0 1 0,0-1 0,0 1 0,0 0 0,-1-1 0,1 1 0,0-1 0,0 1 0,-1-1 0,0 0 0,1 1 0,0-1 0,-1 0 0,1 0 0,-1 1 0,1-1 0,0 0 0,-1 1 0,0-1 0,1 0 0,-1 1 0,1-1 0,-1 1 0,0-1 0,1 1 0,-1-1 0,0 1 0,1 0 0,-1-1 0,0 1 0,0 0 0,0 0 0,1-1 0,-1 1 0,0 0 0,0 0 0,0 0 0,1 0 0,-1 0 0,-1 0 0,0 1 0,0 0 0,0 0 0,0-1 0,0 1 0,0 1 0,0-1 0,1 0 0,-1 0 0,1 1 0,-1-1 0,-1 3 0,-3 3 0,1-1 0,0 1 0,1 1 0,-8 14 0,12-21 0,-1-1 0,1 1 0,0 0 0,-1 0 0,1-1 0,0 1 0,0 0 0,-1 0 0,1-1 0,0 1 0,0 0 0,0 0 0,0 0 0,0-1 0,0 1 0,0 0 0,0 0 0,0 0 0,1-1 0,-1 1 0,0 0 0,0 0 0,1-1 0,-1 1 0,0 0 0,1 0 0,-1-1 0,1 1 0,-1-1 0,1 1 0,-1 0 0,1-1 0,0 1 0,-1-1 0,1 1 0,0-1 0,-1 1 0,1-1 0,0 0 0,-1 1 0,1-1 0,0 0 0,0 0 0,-1 1 0,1-1 0,1 0 0,0 0 0,1 0 0,-1 0 0,0 0 0,0 0 0,1 0 0,-1 0 0,0-1 0,0 1 0,0-1 0,0 0 0,0 0 0,0 0 0,0 0 0,0 0 0,0 0 0,2-2 0,-1 1 11,-1-1 0,0 0 1,0 1-1,0-1 0,-1 0 0,1 0 0,0-1 0,-1 1 0,0 0 0,0 0 1,1-7-1,-1 5-225,0 1 0,1 0-1,-1 0 1,1 0 0,0 0 0,3-5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15:49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15:49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15:57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customXml" Target="../ink/ink4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5" Type="http://schemas.openxmlformats.org/officeDocument/2006/relationships/image" Target="../media/image4.png"/><Relationship Id="rId4" Type="http://schemas.openxmlformats.org/officeDocument/2006/relationships/customXml" Target="../ink/ink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sz="3200" b="1" dirty="0">
                <a:solidFill>
                  <a:srgbClr val="C00000"/>
                </a:solidFill>
              </a:rPr>
              <a:t>Matrix Chain Multiplication Optimization Using Dynamic Programming</a:t>
            </a:r>
            <a:endParaRPr lang="en-US" sz="32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pPr marL="171450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GOPIREDDY SUSMITHA-2520030201</a:t>
            </a: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U. VARSHITHA-2520030206</a:t>
            </a:r>
          </a:p>
          <a:p>
            <a:pPr marL="171450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CHALLA SREEJA-2520030219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r>
              <a:rPr lang="en-US" dirty="0">
                <a:solidFill>
                  <a:srgbClr val="0070C0"/>
                </a:solidFill>
              </a:rPr>
              <a:t>D. Swathi</a:t>
            </a: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D231B5-85C6-E66B-86A3-D3C27157C133}"/>
              </a:ext>
            </a:extLst>
          </p:cNvPr>
          <p:cNvSpPr txBox="1"/>
          <p:nvPr/>
        </p:nvSpPr>
        <p:spPr>
          <a:xfrm>
            <a:off x="2876969" y="1249290"/>
            <a:ext cx="878020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 dirty="0"/>
              <a:t>Matrix Chain Multiplication</a:t>
            </a:r>
            <a:r>
              <a:rPr lang="en-IN" sz="2200" dirty="0"/>
              <a:t> finds the most efficient order for multiplying a sequence of matrices.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The project uses </a:t>
            </a:r>
            <a:r>
              <a:rPr lang="en-IN" sz="2200" b="1" dirty="0"/>
              <a:t>Dynamic Programming (Interval DP)</a:t>
            </a:r>
            <a:r>
              <a:rPr lang="en-IN" sz="2200" dirty="0"/>
              <a:t> to minimize the number of scalar multiplications.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It accepts </a:t>
            </a:r>
            <a:r>
              <a:rPr lang="en-IN" sz="2200" b="1" dirty="0"/>
              <a:t>matrix dimensions</a:t>
            </a:r>
            <a:r>
              <a:rPr lang="en-IN" sz="2200" dirty="0"/>
              <a:t> as input and generates the required matrices.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It creates </a:t>
            </a:r>
            <a:r>
              <a:rPr lang="en-IN" sz="2200" b="1" dirty="0"/>
              <a:t>DP cost and split tables</a:t>
            </a:r>
            <a:r>
              <a:rPr lang="en-IN" sz="2200" dirty="0"/>
              <a:t> to find the optimal multiplication order.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It displays the </a:t>
            </a:r>
            <a:r>
              <a:rPr lang="en-IN" sz="2200" b="1" dirty="0"/>
              <a:t>minimum multiplication cost</a:t>
            </a:r>
            <a:r>
              <a:rPr lang="en-IN" sz="2200" dirty="0"/>
              <a:t> and </a:t>
            </a:r>
            <a:r>
              <a:rPr lang="en-IN" sz="2200" b="1" dirty="0"/>
              <a:t>optimal </a:t>
            </a:r>
            <a:r>
              <a:rPr lang="en-IN" sz="2200" b="1" dirty="0" err="1"/>
              <a:t>parenthesization</a:t>
            </a:r>
            <a:r>
              <a:rPr lang="en-IN" sz="22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It compares the optimized DP approach with a </a:t>
            </a:r>
            <a:r>
              <a:rPr lang="en-IN" sz="2200" b="1" dirty="0"/>
              <a:t>naïve multiplication strategy</a:t>
            </a:r>
            <a:r>
              <a:rPr lang="en-IN" sz="22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The application is implemented using </a:t>
            </a:r>
            <a:r>
              <a:rPr lang="en-IN" sz="2200" b="1" dirty="0"/>
              <a:t>Java</a:t>
            </a:r>
            <a:r>
              <a:rPr lang="en-IN" sz="2200" dirty="0"/>
              <a:t> with an interactive interface.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 dirty="0"/>
              <a:t>Time Complexity:</a:t>
            </a:r>
            <a:r>
              <a:rPr lang="en-IN" sz="2200" dirty="0"/>
              <a:t> O(n³) | </a:t>
            </a:r>
            <a:r>
              <a:rPr lang="en-IN" sz="2200" b="1" dirty="0"/>
              <a:t>Space Complexity:</a:t>
            </a:r>
            <a:r>
              <a:rPr lang="en-IN" sz="2200" dirty="0"/>
              <a:t> O(n²). 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CD84C8-9896-DF2B-115D-EEC3A67076F4}"/>
              </a:ext>
            </a:extLst>
          </p:cNvPr>
          <p:cNvSpPr txBox="1"/>
          <p:nvPr/>
        </p:nvSpPr>
        <p:spPr>
          <a:xfrm>
            <a:off x="2910349" y="1219200"/>
            <a:ext cx="8583562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lang="en-US" sz="2400" dirty="0"/>
              <a:t>• Matrix Chain Multiplication deals with finding the best order to multiply a chain of matrices.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400" dirty="0"/>
              <a:t>• Matrix multiplication is associative, so the order of </a:t>
            </a:r>
            <a:r>
              <a:rPr lang="en-US" sz="2400" dirty="0" err="1"/>
              <a:t>parenthesization</a:t>
            </a:r>
            <a:r>
              <a:rPr lang="en-US" sz="2400" dirty="0"/>
              <a:t> can be changed without changing the final result.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400" dirty="0"/>
              <a:t>• However, different orders may require significantly different numbers of scalar multiplications.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400" dirty="0"/>
              <a:t>• Dynamic Programming avoids repeatedly solving the same subproblems.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400" dirty="0"/>
              <a:t>• The project uses Java to implement an optimization tool that finds the minimum multiplication cost and optimal </a:t>
            </a:r>
            <a:r>
              <a:rPr lang="en-US" sz="2400" dirty="0" err="1"/>
              <a:t>parenthesization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673C41-4AAB-5C50-4E25-7CC7D3695D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443826"/>
              </p:ext>
            </p:extLst>
          </p:nvPr>
        </p:nvGraphicFramePr>
        <p:xfrm>
          <a:off x="1975852" y="1446762"/>
          <a:ext cx="8127999" cy="3024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7979522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96029732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32014528"/>
                    </a:ext>
                  </a:extLst>
                </a:gridCol>
              </a:tblGrid>
              <a:tr h="363178">
                <a:tc>
                  <a:txBody>
                    <a:bodyPr/>
                    <a:lstStyle/>
                    <a:p>
                      <a:r>
                        <a:rPr lang="en-IN" dirty="0"/>
                        <a:t>Approach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Observation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933267"/>
                  </a:ext>
                </a:extLst>
              </a:tr>
              <a:tr h="664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Traditional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Fixed multiplication 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May perform unnecessary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3536692"/>
                  </a:ext>
                </a:extLst>
              </a:tr>
              <a:tr h="664589">
                <a:tc>
                  <a:txBody>
                    <a:bodyPr/>
                    <a:lstStyle/>
                    <a:p>
                      <a:r>
                        <a:rPr lang="en-IN" dirty="0"/>
                        <a:t>Recursive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Recursion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Repeatedly solves subproblems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065853"/>
                  </a:ext>
                </a:extLst>
              </a:tr>
              <a:tr h="664589">
                <a:tc>
                  <a:txBody>
                    <a:bodyPr/>
                    <a:lstStyle/>
                    <a:p>
                      <a:r>
                        <a:rPr lang="en-IN" dirty="0"/>
                        <a:t>Dynamic Programming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Bottom-up 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Avoids redundant calculations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741101"/>
                  </a:ext>
                </a:extLst>
              </a:tr>
              <a:tr h="664589">
                <a:tc>
                  <a:txBody>
                    <a:bodyPr/>
                    <a:lstStyle/>
                    <a:p>
                      <a:r>
                        <a:rPr lang="en-IN" dirty="0"/>
                        <a:t>Proposed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Interval DP + 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Finds optimal order and compares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99837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B3E659D-1769-56B7-C966-C9B6FF5D8359}"/>
              </a:ext>
            </a:extLst>
          </p:cNvPr>
          <p:cNvSpPr txBox="1"/>
          <p:nvPr/>
        </p:nvSpPr>
        <p:spPr>
          <a:xfrm>
            <a:off x="1587438" y="5088072"/>
            <a:ext cx="89048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practical tool that combines optimal </a:t>
            </a:r>
            <a:r>
              <a:rPr lang="en-IN" dirty="0" err="1"/>
              <a:t>parenthesization</a:t>
            </a:r>
            <a:r>
              <a:rPr lang="en-IN" dirty="0"/>
              <a:t>, cost analysis, and comparison with a naïve strategy provides a clearer demonstration of the benefits of Dynamic Programming.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90E623-9761-9F09-2EF2-1CAB78F569BF}"/>
              </a:ext>
            </a:extLst>
          </p:cNvPr>
          <p:cNvGrpSpPr/>
          <p:nvPr/>
        </p:nvGrpSpPr>
        <p:grpSpPr>
          <a:xfrm>
            <a:off x="1448975" y="5269503"/>
            <a:ext cx="43200" cy="46800"/>
            <a:chOff x="1448975" y="5269503"/>
            <a:chExt cx="43200" cy="4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5D8F12B-0115-9EB4-3582-BAC6136D199D}"/>
                    </a:ext>
                  </a:extLst>
                </p14:cNvPr>
                <p14:cNvContentPartPr/>
                <p14:nvPr/>
              </p14:nvContentPartPr>
              <p14:xfrm>
                <a:off x="1448975" y="5269503"/>
                <a:ext cx="43200" cy="46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5D8F12B-0115-9EB4-3582-BAC6136D199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42855" y="5263383"/>
                  <a:ext cx="554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1DB9A43-E928-C689-CD2C-399D0CA7D891}"/>
                    </a:ext>
                  </a:extLst>
                </p14:cNvPr>
                <p14:cNvContentPartPr/>
                <p14:nvPr/>
              </p14:nvContentPartPr>
              <p14:xfrm>
                <a:off x="1451495" y="5293623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1DB9A43-E928-C689-CD2C-399D0CA7D89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45375" y="528750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3782538-5944-E89C-4915-093C7F78A7B9}"/>
                    </a:ext>
                  </a:extLst>
                </p14:cNvPr>
                <p14:cNvContentPartPr/>
                <p14:nvPr/>
              </p14:nvContentPartPr>
              <p14:xfrm>
                <a:off x="1451495" y="5293623"/>
                <a:ext cx="36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3782538-5944-E89C-4915-093C7F78A7B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45375" y="528750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1F91B4A-7CB9-3340-2D2C-DD22BF766C30}"/>
                  </a:ext>
                </a:extLst>
              </p14:cNvPr>
              <p14:cNvContentPartPr/>
              <p14:nvPr/>
            </p14:nvContentPartPr>
            <p14:xfrm>
              <a:off x="-192625" y="1178924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1F91B4A-7CB9-3340-2D2C-DD22BF766C3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98745" y="1172804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E64BC7-55AE-F260-E6D9-3839F87E38E2}"/>
              </a:ext>
            </a:extLst>
          </p:cNvPr>
          <p:cNvSpPr txBox="1"/>
          <p:nvPr/>
        </p:nvSpPr>
        <p:spPr>
          <a:xfrm>
            <a:off x="2959510" y="1101213"/>
            <a:ext cx="8927690" cy="4811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lang="en-US" sz="2000" dirty="0"/>
              <a:t>Problem Statement: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000" dirty="0"/>
              <a:t>Find the optimal order of multiplying a sequence of matrices so that the number of required scalar multiplications is minimized.</a:t>
            </a:r>
          </a:p>
          <a:p>
            <a:pPr>
              <a:spcAft>
                <a:spcPts val="800"/>
              </a:spcAft>
              <a:defRPr sz="1800"/>
            </a:pPr>
            <a:endParaRPr lang="en-US" sz="2000" dirty="0"/>
          </a:p>
          <a:p>
            <a:pPr>
              <a:spcAft>
                <a:spcPts val="800"/>
              </a:spcAft>
              <a:defRPr sz="1800"/>
            </a:pPr>
            <a:r>
              <a:rPr lang="en-US" sz="2000" dirty="0"/>
              <a:t>Objectives: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000" dirty="0"/>
              <a:t>• Accept matrix dimensions as input.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000" dirty="0"/>
              <a:t>• Construct Dynamic Programming tables for subproblems.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000" dirty="0"/>
              <a:t>• Calculate the minimum number of scalar multiplications.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000" dirty="0"/>
              <a:t>• Identify and display the optimal </a:t>
            </a:r>
            <a:r>
              <a:rPr lang="en-US" sz="2000" dirty="0" err="1"/>
              <a:t>parenthesization</a:t>
            </a:r>
            <a:r>
              <a:rPr lang="en-US" sz="2000" dirty="0"/>
              <a:t>.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000" dirty="0"/>
              <a:t>• Compare Dynamic Programming with a naïve multiplication strategy.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000" dirty="0"/>
              <a:t>• Demonstrate the reduction in computational cost.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BE9885-DCF5-E08F-C307-CDBDF133752C}"/>
              </a:ext>
            </a:extLst>
          </p:cNvPr>
          <p:cNvSpPr/>
          <p:nvPr/>
        </p:nvSpPr>
        <p:spPr>
          <a:xfrm>
            <a:off x="1817225" y="1319302"/>
            <a:ext cx="1400536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379AEF-4990-B814-F4D6-162437603430}"/>
              </a:ext>
            </a:extLst>
          </p:cNvPr>
          <p:cNvSpPr/>
          <p:nvPr/>
        </p:nvSpPr>
        <p:spPr>
          <a:xfrm>
            <a:off x="4320543" y="1366781"/>
            <a:ext cx="1400536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Validate Dimensions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970444-1AB7-6F32-4FAF-18945C3FD046}"/>
              </a:ext>
            </a:extLst>
          </p:cNvPr>
          <p:cNvSpPr/>
          <p:nvPr/>
        </p:nvSpPr>
        <p:spPr>
          <a:xfrm>
            <a:off x="6939608" y="1319303"/>
            <a:ext cx="1400536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Naïve Cost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CAA07C-7FB6-DA9A-7A4A-B38F2A02499A}"/>
              </a:ext>
            </a:extLst>
          </p:cNvPr>
          <p:cNvSpPr/>
          <p:nvPr/>
        </p:nvSpPr>
        <p:spPr>
          <a:xfrm>
            <a:off x="6036783" y="2539597"/>
            <a:ext cx="3206186" cy="26719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Dynamic Programming</a:t>
            </a:r>
          </a:p>
          <a:p>
            <a:pPr algn="ctr"/>
            <a:endParaRPr lang="en-IN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endParaRPr lang="en-IN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IN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Cost Table</a:t>
            </a:r>
          </a:p>
          <a:p>
            <a:pPr algn="ctr"/>
            <a:endParaRPr lang="en-IN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IN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Split Table</a:t>
            </a:r>
          </a:p>
          <a:p>
            <a:pPr algn="ctr"/>
            <a:endParaRPr lang="en-IN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IN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Minimum Cost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118DFA-223B-0CB1-3C74-F83ED78FFBE7}"/>
              </a:ext>
            </a:extLst>
          </p:cNvPr>
          <p:cNvSpPr/>
          <p:nvPr/>
        </p:nvSpPr>
        <p:spPr>
          <a:xfrm>
            <a:off x="2660072" y="3429000"/>
            <a:ext cx="2266036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Optimal </a:t>
            </a:r>
            <a:r>
              <a:rPr lang="en-IN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Parenthesization</a:t>
            </a:r>
            <a:endParaRPr lang="en-IN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6F2CC9-0C45-6B47-B76C-EAC3EAFC3D84}"/>
              </a:ext>
            </a:extLst>
          </p:cNvPr>
          <p:cNvSpPr/>
          <p:nvPr/>
        </p:nvSpPr>
        <p:spPr>
          <a:xfrm>
            <a:off x="2856433" y="4626810"/>
            <a:ext cx="1759352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Compare Results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56A749-A00D-CD92-678C-18CCFBC68F31}"/>
              </a:ext>
            </a:extLst>
          </p:cNvPr>
          <p:cNvSpPr/>
          <p:nvPr/>
        </p:nvSpPr>
        <p:spPr>
          <a:xfrm>
            <a:off x="3052574" y="5774162"/>
            <a:ext cx="1367070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Display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1BCB13E-332B-C299-D020-B9DB36CA492F}"/>
              </a:ext>
            </a:extLst>
          </p:cNvPr>
          <p:cNvCxnSpPr>
            <a:stCxn id="6" idx="3"/>
          </p:cNvCxnSpPr>
          <p:nvPr/>
        </p:nvCxnSpPr>
        <p:spPr>
          <a:xfrm flipV="1">
            <a:off x="3217761" y="1611689"/>
            <a:ext cx="11027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BF46E78-4CFD-1C9A-6BC9-F07106582FC5}"/>
              </a:ext>
            </a:extLst>
          </p:cNvPr>
          <p:cNvCxnSpPr>
            <a:cxnSpLocks/>
          </p:cNvCxnSpPr>
          <p:nvPr/>
        </p:nvCxnSpPr>
        <p:spPr>
          <a:xfrm>
            <a:off x="5721079" y="1646416"/>
            <a:ext cx="1218529" cy="12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D9DD57B-BD0A-23BB-426F-0F2D3109CE72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7639876" y="1904078"/>
            <a:ext cx="0" cy="635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14DFCFB-5166-CFBD-A3DF-9ACF9BF44C48}"/>
              </a:ext>
            </a:extLst>
          </p:cNvPr>
          <p:cNvCxnSpPr>
            <a:cxnSpLocks/>
          </p:cNvCxnSpPr>
          <p:nvPr/>
        </p:nvCxnSpPr>
        <p:spPr>
          <a:xfrm>
            <a:off x="3736109" y="3991291"/>
            <a:ext cx="0" cy="635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6A95507-B395-52F4-D5A7-589C940F386E}"/>
              </a:ext>
            </a:extLst>
          </p:cNvPr>
          <p:cNvCxnSpPr>
            <a:cxnSpLocks/>
          </p:cNvCxnSpPr>
          <p:nvPr/>
        </p:nvCxnSpPr>
        <p:spPr>
          <a:xfrm>
            <a:off x="3735524" y="5211585"/>
            <a:ext cx="0" cy="635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CB29700-7561-68E0-BFA5-B64297B0D09C}"/>
              </a:ext>
            </a:extLst>
          </p:cNvPr>
          <p:cNvCxnSpPr>
            <a:cxnSpLocks/>
          </p:cNvCxnSpPr>
          <p:nvPr/>
        </p:nvCxnSpPr>
        <p:spPr>
          <a:xfrm flipH="1">
            <a:off x="5032971" y="3738212"/>
            <a:ext cx="9028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D3ED5B3-63E1-1E2F-087A-F126007DB734}"/>
              </a:ext>
            </a:extLst>
          </p:cNvPr>
          <p:cNvCxnSpPr>
            <a:cxnSpLocks/>
          </p:cNvCxnSpPr>
          <p:nvPr/>
        </p:nvCxnSpPr>
        <p:spPr>
          <a:xfrm>
            <a:off x="7627668" y="3051088"/>
            <a:ext cx="12208" cy="542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CA23719-7946-F772-4EB2-EFD0E9546966}"/>
              </a:ext>
            </a:extLst>
          </p:cNvPr>
          <p:cNvCxnSpPr>
            <a:cxnSpLocks/>
          </p:cNvCxnSpPr>
          <p:nvPr/>
        </p:nvCxnSpPr>
        <p:spPr>
          <a:xfrm>
            <a:off x="7639876" y="3833750"/>
            <a:ext cx="0" cy="395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AE3B375-760E-F431-855D-6A3F2AC7ED9E}"/>
              </a:ext>
            </a:extLst>
          </p:cNvPr>
          <p:cNvCxnSpPr>
            <a:cxnSpLocks/>
          </p:cNvCxnSpPr>
          <p:nvPr/>
        </p:nvCxnSpPr>
        <p:spPr>
          <a:xfrm>
            <a:off x="7607439" y="4429210"/>
            <a:ext cx="0" cy="395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D0DC0-0C90-6727-C0C6-8725E6BEE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5960" y="128016"/>
            <a:ext cx="9387840" cy="603504"/>
          </a:xfrm>
        </p:spPr>
        <p:txBody>
          <a:bodyPr/>
          <a:lstStyle/>
          <a:p>
            <a:r>
              <a:rPr lang="en-US" b="1" dirty="0"/>
              <a:t>Code: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4527EA-AC5F-4B28-8E21-A895308A8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60120"/>
            <a:ext cx="5266943" cy="57698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8D0DC8-E396-A4F0-F897-574E10176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960120"/>
            <a:ext cx="5669280" cy="576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26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E9A661-72D3-9465-9F7D-1E2EBCC48F27}"/>
              </a:ext>
            </a:extLst>
          </p:cNvPr>
          <p:cNvSpPr txBox="1"/>
          <p:nvPr/>
        </p:nvSpPr>
        <p:spPr>
          <a:xfrm>
            <a:off x="3106994" y="1120877"/>
            <a:ext cx="8829367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lang="en-US" sz="2000" dirty="0"/>
              <a:t>The developed Java-based tool:</a:t>
            </a:r>
          </a:p>
          <a:p>
            <a:pPr>
              <a:spcAft>
                <a:spcPts val="800"/>
              </a:spcAft>
              <a:defRPr sz="1800"/>
            </a:pPr>
            <a:endParaRPr lang="en-US" sz="2000" dirty="0"/>
          </a:p>
          <a:p>
            <a:pPr>
              <a:spcAft>
                <a:spcPts val="800"/>
              </a:spcAft>
              <a:defRPr sz="1800"/>
            </a:pPr>
            <a:r>
              <a:rPr lang="en-US" sz="2000" dirty="0"/>
              <a:t>• Accepts matrix dimensions as input.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000" dirty="0"/>
              <a:t>• Calculates the minimum number of scalar multiplications using Dynamic Programming.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000" dirty="0"/>
              <a:t>• Displays the optimal </a:t>
            </a:r>
            <a:r>
              <a:rPr lang="en-US" sz="2000" dirty="0" err="1"/>
              <a:t>parenthesization</a:t>
            </a:r>
            <a:r>
              <a:rPr lang="en-US" sz="2000" dirty="0"/>
              <a:t> of the matrix chain.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000" dirty="0"/>
              <a:t>• Uses Dynamic Programming tables to solve overlapping subproblems efficiently.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000" dirty="0"/>
              <a:t>• Compares the optimized approach with a naïve strategy.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000" dirty="0"/>
              <a:t>• Demonstrates the reduction in computational cost.</a:t>
            </a:r>
          </a:p>
          <a:p>
            <a:pPr>
              <a:spcAft>
                <a:spcPts val="800"/>
              </a:spcAft>
              <a:defRPr sz="1800"/>
            </a:pPr>
            <a:endParaRPr lang="en-US" sz="2000" dirty="0"/>
          </a:p>
          <a:p>
            <a:pPr>
              <a:spcAft>
                <a:spcPts val="800"/>
              </a:spcAft>
              <a:defRPr sz="1800"/>
            </a:pPr>
            <a:r>
              <a:rPr lang="en-US" sz="2000" dirty="0"/>
              <a:t>Complexity: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000" dirty="0"/>
              <a:t>Time Complexity: O(n³)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000" dirty="0"/>
              <a:t>Space Complexity: O(n²)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CC25C-56B4-D2DF-B3C2-0606F673C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824" y="164592"/>
            <a:ext cx="9332976" cy="694944"/>
          </a:xfrm>
        </p:spPr>
        <p:txBody>
          <a:bodyPr/>
          <a:lstStyle/>
          <a:p>
            <a:r>
              <a:rPr lang="en-US" b="1" dirty="0"/>
              <a:t>OUTPUT: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B4647F-EE68-A6DD-9C7F-0492FDF1F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3" y="941832"/>
            <a:ext cx="11951209" cy="582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459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11E7E5-435C-D83B-BC9B-45C5B63EFD5F}"/>
              </a:ext>
            </a:extLst>
          </p:cNvPr>
          <p:cNvSpPr txBox="1"/>
          <p:nvPr/>
        </p:nvSpPr>
        <p:spPr>
          <a:xfrm>
            <a:off x="2959510" y="983226"/>
            <a:ext cx="8996516" cy="5734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lang="en-IN" sz="2000" b="1" dirty="0"/>
              <a:t>Hardware Requirements: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IN" sz="2000" dirty="0"/>
              <a:t>Computer/Laptop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IN" sz="2000" dirty="0"/>
              <a:t>Minimum 4 GB RAM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IN" sz="2000" dirty="0"/>
              <a:t>Standard keyboard and mouse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IN" sz="2000" dirty="0"/>
              <a:t>Minimum 500 MB free storage</a:t>
            </a:r>
          </a:p>
          <a:p>
            <a:pPr>
              <a:spcAft>
                <a:spcPts val="800"/>
              </a:spcAft>
              <a:defRPr sz="1800"/>
            </a:pPr>
            <a:endParaRPr lang="en-IN" sz="2000" dirty="0"/>
          </a:p>
          <a:p>
            <a:pPr>
              <a:spcAft>
                <a:spcPts val="800"/>
              </a:spcAft>
              <a:defRPr sz="1800"/>
            </a:pPr>
            <a:r>
              <a:rPr lang="en-IN" sz="2000" b="1" dirty="0"/>
              <a:t>Software Requirements: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IN" sz="2000" dirty="0"/>
              <a:t>Java Development Kit (JDK)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IN" sz="2000" dirty="0"/>
              <a:t>Java compiler / Java IDE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IN" sz="2000" dirty="0"/>
              <a:t>Operating System: Windows, Linux, or macOS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pPr>
            <a:r>
              <a:rPr lang="en-IN" sz="2000" dirty="0"/>
              <a:t>Any suitable Java development environment</a:t>
            </a:r>
          </a:p>
          <a:p>
            <a:pPr>
              <a:spcAft>
                <a:spcPts val="800"/>
              </a:spcAft>
              <a:defRPr sz="1800"/>
            </a:pPr>
            <a:endParaRPr lang="en-IN" sz="2000" dirty="0"/>
          </a:p>
          <a:p>
            <a:pPr>
              <a:spcAft>
                <a:spcPts val="800"/>
              </a:spcAft>
              <a:defRPr sz="1800"/>
            </a:pPr>
            <a:r>
              <a:rPr lang="en-IN" sz="2000" dirty="0"/>
              <a:t>The project is implemented as a Java-based software tool.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C598E-1752-C63E-E73E-454A52B684A8}"/>
              </a:ext>
            </a:extLst>
          </p:cNvPr>
          <p:cNvSpPr txBox="1"/>
          <p:nvPr/>
        </p:nvSpPr>
        <p:spPr>
          <a:xfrm>
            <a:off x="3048000" y="1795113"/>
            <a:ext cx="6096000" cy="3580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lang="en-US" sz="2000" dirty="0"/>
              <a:t>• Matrix Chain Multiplication demonstrates how the order of operations can affect computational cost.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000" dirty="0"/>
              <a:t>• The project uses Interval Dynamic Programming to find the minimum multiplication cost efficiently.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000" dirty="0"/>
              <a:t>• The Java-based tool identifies the optimal </a:t>
            </a:r>
            <a:r>
              <a:rPr lang="en-US" sz="2000" dirty="0" err="1"/>
              <a:t>parenthesization</a:t>
            </a:r>
            <a:r>
              <a:rPr lang="en-US" sz="2000" dirty="0"/>
              <a:t> for a given matrix chain.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000" dirty="0"/>
              <a:t>• Comparison with a naïve strategy demonstrates the benefit of optimization.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000" dirty="0"/>
              <a:t>• The project provides a practical application of Dynamic Programming for solving optimization problems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DAACD8-D9E7-68A0-44C0-B8FB1B2D8241}"/>
              </a:ext>
            </a:extLst>
          </p:cNvPr>
          <p:cNvSpPr txBox="1"/>
          <p:nvPr/>
        </p:nvSpPr>
        <p:spPr>
          <a:xfrm>
            <a:off x="2660072" y="1479817"/>
            <a:ext cx="8593394" cy="466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lang="en-US" sz="2400" dirty="0"/>
              <a:t>• Add an interactive graphical user interface for easier input and visualization.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400" dirty="0"/>
              <a:t>• Provide step-by-step visualization of the Dynamic Programming table.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400" dirty="0"/>
              <a:t>• Support larger matrix chains and more detailed performance comparisons.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400" dirty="0"/>
              <a:t>• Extend the tool to demonstrate other Dynamic Programming optimization problems.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400" dirty="0"/>
              <a:t>• Improve visualization of optimized versus non-optimized strategies.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692</Words>
  <Application>Microsoft Office PowerPoint</Application>
  <PresentationFormat>Widescreen</PresentationFormat>
  <Paragraphs>116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       Data Structures and Algorithms -3 (25CS2103E)  Matrix Chain Multiplication Optimization Using Dynamic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Code:</vt:lpstr>
      <vt:lpstr>PowerPoint Presentation</vt:lpstr>
      <vt:lpstr>OUTPUT: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Varshitha Uppalapati</cp:lastModifiedBy>
  <cp:revision>22</cp:revision>
  <dcterms:created xsi:type="dcterms:W3CDTF">2024-08-29T05:25:00Z</dcterms:created>
  <dcterms:modified xsi:type="dcterms:W3CDTF">2026-09-28T07:10:37Z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